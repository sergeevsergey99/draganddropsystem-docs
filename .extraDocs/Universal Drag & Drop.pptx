
<file path=[Content_Types].xml><?xml version="1.0" encoding="utf-8"?>
<ns0:Types xmlns:ns0="http://schemas.openxmlformats.org/package/2006/content-types">
  <ns0:Default ContentType="application/x-fontdata" Extension="fntdata"/>
  <ns0:Default ContentType="application/xml" Extension="xml"/>
  <ns0:Default ContentType="application/vnd.openxmlformats-officedocument.obfuscatedFont" Extension="odttf"/>
  <ns0:Default ContentType="application/vnd.openxmlformats-package.relationships+xml" Extension="rels"/>
  <ns0:Override ContentType="application/vnd.openxmlformats-officedocument.presentationml.notesSlide+xml" PartName="/ppt/notesSlides/notesSlide1.xml"/>
  <ns0:Override ContentType="application/vnd.openxmlformats-officedocument.presentationml.notesSlide+xml" PartName="/ppt/notesSlides/notesSlide3.xml"/>
  <ns0:Override ContentType="application/vnd.openxmlformats-officedocument.presentationml.notesSlide+xml" PartName="/ppt/notesSlides/notesSlide2.xml"/>
  <ns0:Override ContentType="application/vnd.openxmlformats-officedocument.presentationml.slideLayout+xml" PartName="/ppt/slideLayouts/slideLayout3.xml"/>
  <ns0:Override ContentType="application/vnd.openxmlformats-officedocument.presentationml.slideLayout+xml" PartName="/ppt/slideLayouts/slideLayout4.xml"/>
  <ns0:Override ContentType="application/vnd.openxmlformats-officedocument.presentationml.slideLayout+xml" PartName="/ppt/slideLayouts/slideLayout5.xml"/>
  <ns0:Override ContentType="application/vnd.openxmlformats-officedocument.presentationml.slideLayout+xml" PartName="/ppt/slideLayouts/slideLayout2.xml"/>
  <ns0:Override ContentType="application/vnd.openxmlformats-officedocument.presentationml.slideLayout+xml" PartName="/ppt/slideLayouts/slideLayout11.xml"/>
  <ns0:Override ContentType="application/vnd.openxmlformats-officedocument.presentationml.slideLayout+xml" PartName="/ppt/slideLayouts/slideLayout1.xml"/>
  <ns0:Override ContentType="application/vnd.openxmlformats-officedocument.presentationml.slideLayout+xml" PartName="/ppt/slideLayouts/slideLayout10.xml"/>
  <ns0:Override ContentType="application/vnd.openxmlformats-officedocument.presentationml.slideLayout+xml" PartName="/ppt/slideLayouts/slideLayout7.xml"/>
  <ns0:Override ContentType="application/vnd.openxmlformats-officedocument.presentationml.slideLayout+xml" PartName="/ppt/slideLayouts/slideLayout6.xml"/>
  <ns0:Override ContentType="application/vnd.openxmlformats-officedocument.presentationml.slideLayout+xml" PartName="/ppt/slideLayouts/slideLayout8.xml"/>
  <ns0:Override ContentType="application/vnd.openxmlformats-officedocument.presentationml.slideLayout+xml" PartName="/ppt/slideLayouts/slideLayout9.xml"/>
  <ns0:Override ContentType="application/vnd.openxmlformats-officedocument.presentationml.slideMaster+xml" PartName="/ppt/slideMasters/slideMaster1.xml"/>
  <ns0:Override ContentType="application/vnd.openxmlformats-officedocument.presentationml.slide+xml" PartName="/ppt/slides/slide1.xml"/>
  <ns0:Override ContentType="application/vnd.openxmlformats-officedocument.presentationml.slide+xml" PartName="/ppt/slides/slide2.xml"/>
  <ns0:Override ContentType="application/vnd.openxmlformats-officedocument.presentationml.slide+xml" PartName="/ppt/slides/slide3.xml"/>
  <ns0:Override ContentType="application/vnd.openxmlformats-officedocument.presentationml.slide+xml" PartName="/ppt/slides/slide4.xml"/>
  <ns0:Override ContentType="application/vnd.openxmlformats-officedocument.presentationml.slide+xml" PartName="/ppt/slides/slide5.xml"/>
  <ns0:Override ContentType="application/vnd.openxmlformats-officedocument.presentationml.slide+xml" PartName="/ppt/slides/slide6.xml"/>
  <ns0:Override ContentType="application/vnd.openxmlformats-officedocument.presentationml.slide+xml" PartName="/ppt/slides/slide7.xml"/>
  <ns0:Override ContentType="application/vnd.openxmlformats-officedocument.presentationml.notesMaster+xml" PartName="/ppt/notesMasters/notesMaster1.xml"/>
  <ns0:Override ContentType="application/vnd.openxmlformats-officedocument.presentationml.presentation.main+xml" PartName="/ppt/presentation.xml"/>
  <ns0:Override ContentType="application/vnd.openxmlformats-officedocument.presentationml.presProps+xml" PartName="/ppt/presProps.xml"/>
  <ns0:Override ContentType="application/vnd.openxmlformats-officedocument.theme+xml" PartName="/ppt/theme/theme1.xml"/>
  <ns0:Override ContentType="application/vnd.openxmlformats-officedocument.theme+xml" PartName="/ppt/theme/theme2.xml"/>
  <ns0:Override ContentType="application/vnd.openxmlformats-officedocument.presentationml.viewProps+xml" PartName="/ppt/viewProps.xml"/>
</ns0: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Average"/>
      <p:regular r:id="rId9"/>
    </p:embeddedFont>
    <p:embeddedFont>
      <p:font typeface="Oswald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ns3:sldGuideLst>
        <ns3:guide id="1" orient="horz" pos="1620">
          <ns3:clr>
            <a:srgbClr val="747775"/>
          </ns3:clr>
        </ns3:guide>
        <ns3:guide id="2" pos="2880">
          <ns3:clr>
            <a:srgbClr val="747775"/>
          </ns3:clr>
        </ns3:guide>
      </ns3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theme" Target="theme/theme2.xml" /><Relationship Id="rId2" Type="http://schemas.openxmlformats.org/officeDocument/2006/relationships/viewProps" Target="viewProps.xml" /><Relationship Id="rId3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11" Type="http://schemas.openxmlformats.org/officeDocument/2006/relationships/font" Target="fonts/Oswald-bold.fntdata" /><Relationship Id="rId10" Type="http://schemas.openxmlformats.org/officeDocument/2006/relationships/font" Target="fonts/Oswald-regular.fntdata" /><Relationship Id="rId9" Type="http://schemas.openxmlformats.org/officeDocument/2006/relationships/font" Target="fonts/Average-regular.fntdata" /><Relationship Id="rId5" Type="http://schemas.openxmlformats.org/officeDocument/2006/relationships/notesMaster" Target="notesMasters/notesMaster1.xml" /><Relationship Id="rId6" Type="http://schemas.openxmlformats.org/officeDocument/2006/relationships/slide" Target="slides/slide1.xml" /><Relationship Id="rId7" Type="http://schemas.openxmlformats.org/officeDocument/2006/relationships/slide" Target="slides/slide2.xml" /><Relationship Id="rId8" Type="http://schemas.openxmlformats.org/officeDocument/2006/relationships/slide" Target="slides/slide3.xml" /><Relationship Id="rId9" Type="http://schemas.openxmlformats.org/officeDocument/2006/relationships/slide" Target="slides/slide4.xml" /><Relationship Id="rId10" Type="http://schemas.openxmlformats.org/officeDocument/2006/relationships/slide" Target="slides/slide5.xml" /><Relationship Id="rId11" Type="http://schemas.openxmlformats.org/officeDocument/2006/relationships/slide" Target="slides/slide6.xml" /><Relationship Id="rId12" Type="http://schemas.openxmlformats.org/officeDocument/2006/relationships/slide" Target="slides/slide7.xml" 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4e7091cc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4e7091cc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d60905532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d60905532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rgbClr val="1C4587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Universal Drag &amp; Drop</a:t>
            </a:r>
            <a:endParaRPr sz="4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2"/>
                </a:solidFill>
                <a:latin typeface="Average"/>
                <a:ea typeface="Average"/>
                <a:cs typeface="Average"/>
                <a:sym typeface="Average"/>
              </a:rPr>
              <a:t>Flexible inventory framework for Unity
UGUI drag and drop, data binding, rules, and transfer pipeline</a:t>
            </a:r>
            <a:endParaRPr sz="2100">
              <a:solidFill>
                <a:schemeClr val="dk2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122252" y="1941489"/>
            <a:ext cx="4658100" cy="2493000"/>
          </a:xfrm>
          <a:prstGeom prst="rect">
            <a:avLst/>
          </a:prstGeom>
          <a:solidFill>
            <a:schemeClr val="lt2"/>
          </a:solidFill>
          <a:ln cap="flat" cmpd="sng" w="86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68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391832" y="220503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1482296" y="220503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68" name="Google Shape;68;p14"/>
          <p:cNvSpPr/>
          <p:nvPr/>
        </p:nvSpPr>
        <p:spPr>
          <a:xfrm>
            <a:off x="2572761" y="220503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3663225" y="220503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391832" y="329832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1482296" y="329832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2572761" y="329832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3" name="Google Shape;73;p14"/>
          <p:cNvSpPr/>
          <p:nvPr/>
        </p:nvSpPr>
        <p:spPr>
          <a:xfrm>
            <a:off x="3663225" y="3298326"/>
            <a:ext cx="847800" cy="847800"/>
          </a:xfrm>
          <a:prstGeom prst="bevel">
            <a:avLst>
              <a:gd fmla="val 12500" name="adj"/>
            </a:avLst>
          </a:prstGeom>
          <a:solidFill>
            <a:schemeClr val="lt2"/>
          </a:solidFill>
          <a:ln cap="flat" cmpd="sng" w="9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50" lIns="92950" spcFirstLastPara="1" rIns="92950" wrap="square" tIns="929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122377" y="1257264"/>
            <a:ext cx="46581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Inventory</a:t>
            </a:r>
            <a:endParaRPr sz="24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495428" y="2455677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590572" y="2469262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2681029" y="2455677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497771" y="3555759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1592915" y="3569344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2683372" y="3555759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3771474" y="2469262"/>
            <a:ext cx="6312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2800" lIns="82800" spcFirstLastPara="1" rIns="82800" wrap="square" tIns="82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63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Slot</a:t>
            </a:r>
            <a:endParaRPr sz="163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2" name="Google Shape;82;p14"/>
          <p:cNvSpPr/>
          <p:nvPr/>
        </p:nvSpPr>
        <p:spPr>
          <a:xfrm>
            <a:off x="5159802" y="2169564"/>
            <a:ext cx="1823425" cy="2296475"/>
          </a:xfrm>
          <a:prstGeom prst="flowChartMagneticDisk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3" name="Google Shape;83;p14"/>
          <p:cNvSpPr/>
          <p:nvPr/>
        </p:nvSpPr>
        <p:spPr>
          <a:xfrm>
            <a:off x="5259002" y="3038576"/>
            <a:ext cx="1635876" cy="1093284"/>
          </a:xfrm>
          <a:prstGeom prst="flowChartMultidocument">
            <a:avLst/>
          </a:prstGeom>
          <a:solidFill>
            <a:srgbClr val="FFF2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Average"/>
                <a:ea typeface="Average"/>
                <a:cs typeface="Average"/>
                <a:sym typeface="Average"/>
              </a:rPr>
              <a:t>Adapters List</a:t>
            </a:r>
            <a:endParaRPr>
              <a:latin typeface="Average"/>
              <a:ea typeface="Average"/>
              <a:cs typeface="Average"/>
              <a:sym typeface="Average"/>
            </a:endParaRPr>
          </a:p>
        </p:txBody>
      </p:sp>
      <p:cxnSp>
        <p:nvCxnSpPr>
          <p:cNvPr id="84" name="Google Shape;84;p14"/>
          <p:cNvCxnSpPr>
            <a:endCxn id="82" idx="2"/>
          </p:cNvCxnSpPr>
          <p:nvPr/>
        </p:nvCxnSpPr>
        <p:spPr>
          <a:xfrm flipH="1" rot="10800000">
            <a:off x="4070202" y="3317801"/>
            <a:ext cx="1089600" cy="408900"/>
          </a:xfrm>
          <a:prstGeom prst="straightConnector1">
            <a:avLst/>
          </a:prstGeom>
          <a:noFill/>
          <a:ln cap="flat" cmpd="sng" w="3810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5" name="Google Shape;85;p14"/>
          <p:cNvSpPr txBox="1"/>
          <p:nvPr/>
        </p:nvSpPr>
        <p:spPr>
          <a:xfrm>
            <a:off x="5519809" y="2359739"/>
            <a:ext cx="11034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  <a:latin typeface="Average"/>
                <a:ea typeface="Average"/>
                <a:cs typeface="Average"/>
                <a:sym typeface="Average"/>
              </a:rPr>
              <a:t>Stack</a:t>
            </a:r>
            <a:endParaRPr sz="1800">
              <a:solidFill>
                <a:schemeClr val="lt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7642852" y="2838064"/>
            <a:ext cx="1156086" cy="283986"/>
          </a:xfrm>
          <a:prstGeom prst="flowChartTerminator">
            <a:avLst/>
          </a:prstGeom>
          <a:solidFill>
            <a:srgbClr val="FFF2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Average"/>
                <a:ea typeface="Average"/>
                <a:cs typeface="Average"/>
                <a:sym typeface="Average"/>
              </a:rPr>
              <a:t>Data</a:t>
            </a:r>
            <a:endParaRPr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7642852" y="3281464"/>
            <a:ext cx="1156086" cy="283986"/>
          </a:xfrm>
          <a:prstGeom prst="flowChartTerminator">
            <a:avLst/>
          </a:prstGeom>
          <a:solidFill>
            <a:srgbClr val="FFF2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Average"/>
                <a:ea typeface="Average"/>
                <a:cs typeface="Average"/>
                <a:sym typeface="Average"/>
              </a:rPr>
              <a:t>Data</a:t>
            </a:r>
            <a:endParaRPr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88" name="Google Shape;88;p14"/>
          <p:cNvSpPr/>
          <p:nvPr/>
        </p:nvSpPr>
        <p:spPr>
          <a:xfrm>
            <a:off x="7642852" y="3764164"/>
            <a:ext cx="1156086" cy="283986"/>
          </a:xfrm>
          <a:prstGeom prst="flowChartTerminator">
            <a:avLst/>
          </a:prstGeom>
          <a:solidFill>
            <a:srgbClr val="FFF2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Average"/>
                <a:ea typeface="Average"/>
                <a:cs typeface="Average"/>
                <a:sym typeface="Average"/>
              </a:rPr>
              <a:t>Data</a:t>
            </a:r>
            <a:endParaRPr>
              <a:latin typeface="Average"/>
              <a:ea typeface="Average"/>
              <a:cs typeface="Average"/>
              <a:sym typeface="Average"/>
            </a:endParaRPr>
          </a:p>
        </p:txBody>
      </p:sp>
      <p:cxnSp>
        <p:nvCxnSpPr>
          <p:cNvPr id="89" name="Google Shape;89;p14"/>
          <p:cNvCxnSpPr>
            <a:endCxn id="86" idx="1"/>
          </p:cNvCxnSpPr>
          <p:nvPr/>
        </p:nvCxnSpPr>
        <p:spPr>
          <a:xfrm flipH="1" rot="10800000">
            <a:off x="6878152" y="2980057"/>
            <a:ext cx="764700" cy="2670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0" name="Google Shape;90;p14"/>
          <p:cNvCxnSpPr>
            <a:endCxn id="87" idx="1"/>
          </p:cNvCxnSpPr>
          <p:nvPr/>
        </p:nvCxnSpPr>
        <p:spPr>
          <a:xfrm flipH="1" rot="10800000">
            <a:off x="6768052" y="3423457"/>
            <a:ext cx="874800" cy="59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" name="Google Shape;91;p14"/>
          <p:cNvCxnSpPr>
            <a:endCxn id="88" idx="1"/>
          </p:cNvCxnSpPr>
          <p:nvPr/>
        </p:nvCxnSpPr>
        <p:spPr>
          <a:xfrm>
            <a:off x="6668752" y="3718657"/>
            <a:ext cx="974100" cy="1875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2" name="Google Shape;92;p14"/>
          <p:cNvSpPr txBox="1"/>
          <p:nvPr/>
        </p:nvSpPr>
        <p:spPr>
          <a:xfrm>
            <a:off x="7420039" y="2169564"/>
            <a:ext cx="16017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Your data</a:t>
            </a:r>
            <a:endParaRPr sz="24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93" name="Google Shape;93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Core architecture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Why teams pick this asset</a:t>
            </a:r>
            <a:endParaRPr sz="3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Backpack, chest, equipment, loot, trading, crafting, and nested containers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Stack, swap, quick transfer, multi-selection, context menu, and tooltip support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Start with a simple inventory and scale without rewriting the whole UI flow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UGUI required, New Input System optional for InputAction-based features</a:t>
            </a:r>
            <a:endParaRPr sz="2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5 demo scenes included</a:t>
            </a:r>
            <a:endParaRPr sz="3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Demo1: basic inventories and list-based binding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Demo2: loot, chest interaction, pickup, and world drop flow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Demo3: hotbar, slot-indexed inventory, and crafting result slot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Demo4: trading, prices, and item conversion between inventories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Demo5: nested containers opened from a context menu</a:t>
            </a:r>
            <a:endParaRPr sz="2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Works with your own data model</a:t>
            </a:r>
            <a:endParaRPr sz="3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Supports ScriptableObject items, runtime models, lists, slot arrays, and mapped equipment slots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Adapters define how items look in UI and how stacking identity is resolved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DataBinding keeps your game data as the source of truth instead of storing state in UI slots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You only add the integration layer that your project actually needs</a:t>
            </a:r>
            <a:endParaRPr sz="2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Transfer pipeline with extension points</a:t>
            </a:r>
            <a:endParaRPr sz="3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CanDrop handles mechanical rules during planning before any mutation happens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CanCommitTransfer and CanCommitTransferAsync validate business logic right before commit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Planning, partial transfer, swap, conversion, and rollback are already handled by the system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OnTransferSucceeded plus AddToData and RemoveFromData cover side effects and sync</a:t>
            </a:r>
            <a:endParaRPr sz="2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Asset Store screenshot order</a:t>
            </a:r>
            <a:endParaRPr sz="30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1. Title slide: product identity and positioning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2. Architecture: UI inventory is separated from your game data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3. Feature overview: supported workflows and interaction systems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4. Demos: show breadth from basic inventory to trading and containers</a:t>
            </a:r>
            <a:endParaRPr sz="2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200">
                <a:solidFill>
                  <a:schemeClr val="dk2"/>
                </a:solidFill>
              </a:rPr>
              <a:t>5. Integration + pipeline: explain why the asset scales beyond a simple slot grid</a:t>
            </a:r>
            <a:endParaRPr sz="2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